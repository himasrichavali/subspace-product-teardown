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embeddedFontLst>
    <p:embeddedFont>
      <p:font typeface="Source Sans 3"/>
      <p:regular r:id="rId22"/>
      <p:bold r:id="rId23"/>
      <p:italic r:id="rId24"/>
      <p:boldItalic r:id="rId25"/>
    </p:embeddedFont>
    <p:embeddedFont>
      <p:font typeface="Lor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SourceSans3-regular.fntdata"/><Relationship Id="rId21" Type="http://schemas.openxmlformats.org/officeDocument/2006/relationships/slide" Target="slides/slide17.xml"/><Relationship Id="rId24" Type="http://schemas.openxmlformats.org/officeDocument/2006/relationships/font" Target="fonts/SourceSans3-italic.fntdata"/><Relationship Id="rId23" Type="http://schemas.openxmlformats.org/officeDocument/2006/relationships/font" Target="fonts/SourceSans3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ora-regular.fntdata"/><Relationship Id="rId25" Type="http://schemas.openxmlformats.org/officeDocument/2006/relationships/font" Target="fonts/SourceSans3-boldItalic.fntdata"/><Relationship Id="rId28" Type="http://schemas.openxmlformats.org/officeDocument/2006/relationships/font" Target="fonts/Lora-italic.fntdata"/><Relationship Id="rId27" Type="http://schemas.openxmlformats.org/officeDocument/2006/relationships/font" Target="fonts/Lor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ora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b7e2009d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b7e2009d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b7e2009da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b7e2009da_1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b7e2009da_1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b7e2009da_1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b7e2009da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b7e2009da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b7e2009da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b7e2009da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b7e2009da_1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b7e2009da_1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b7e2009da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b7e2009da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b7e2009da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7e2009da_1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b7e2009da_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b7e2009da_1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b7e2009da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b7e2009da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b7e2009da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7e2009da_1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b7e2009da_1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b7e2009da_1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b7e2009da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b7e2009da_1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eb7e2009da_1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b7e2009da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b7e2009da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b7e2009da_1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b7e2009da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b7e2009da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b7e2009da_1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b7e2009da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b7e2009da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b7e2009da_1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7e2009da_1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b7e2009da_1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b7e2009da_1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1223625" y="403975"/>
            <a:ext cx="5707200" cy="349800"/>
          </a:xfrm>
          <a:prstGeom prst="roundRect">
            <a:avLst>
              <a:gd fmla="val 6386" name="adj"/>
            </a:avLst>
          </a:prstGeom>
          <a:solidFill>
            <a:srgbClr val="E2EC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313400" y="403975"/>
            <a:ext cx="65172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00"/>
              <a:buFont typeface="Source Sans 3"/>
              <a:buNone/>
            </a:pPr>
            <a:r>
              <a:rPr b="1" i="0" lang="en-US" sz="2000" u="none" cap="none" strike="noStrike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 INTERN ASSIGNMENT · VOCALLABS AI</a:t>
            </a:r>
            <a:endParaRPr b="1" i="0" sz="20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230000" y="1002225"/>
            <a:ext cx="84741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2750"/>
              <a:buFont typeface="Lora"/>
              <a:buNone/>
            </a:pPr>
            <a:r>
              <a:rPr b="1" i="0" lang="en-US" sz="2050" u="none" cap="none" strike="noStrik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Product Teardown: Subspace.money</a:t>
            </a:r>
            <a:endParaRPr b="1" i="0" sz="20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312200" y="1587125"/>
            <a:ext cx="6618600" cy="3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50"/>
              <a:buFont typeface="Source Sans 3"/>
              <a:buNone/>
            </a:pPr>
            <a:r>
              <a:rPr lang="en-US" sz="165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 teardown based on hands-on exploration of Subspace.money across onboarding, subscription discovery, trust systems, and network-growth workflows. </a:t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50"/>
              <a:buFont typeface="Source Sans 3"/>
              <a:buNone/>
            </a:pPr>
            <a:r>
              <a:t/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50"/>
              <a:buFont typeface="Source Sans 3"/>
              <a:buNone/>
            </a:pPr>
            <a:r>
              <a:t/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Prepared by:</a:t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Himasri Chavali</a:t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Product Intern Assignment Submission</a:t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31 May 2026</a:t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50"/>
              <a:buFont typeface="Source Sans 3"/>
              <a:buNone/>
            </a:pPr>
            <a:r>
              <a:t/>
            </a:r>
            <a:endParaRPr sz="16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Screenshot 2026-05-31 1133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75" y="0"/>
            <a:ext cx="905632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262105" y="131670"/>
            <a:ext cx="39126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2250"/>
              <a:buFont typeface="Lora"/>
              <a:buNone/>
            </a:pPr>
            <a:r>
              <a:rPr b="1" i="0" lang="en-US" sz="2250" u="none" cap="none" strike="noStrik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What Is Subspace.money?</a:t>
            </a:r>
            <a:endParaRPr b="1" i="0" sz="2250" u="none" cap="none" strike="noStrike"/>
          </a:p>
        </p:txBody>
      </p:sp>
      <p:pic>
        <p:nvPicPr>
          <p:cNvPr descr="preencoded.png"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925" y="760175"/>
            <a:ext cx="5091099" cy="32828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5474650" y="760175"/>
            <a:ext cx="3581400" cy="29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Subspace.money is a multi-feature fintech platform enabling users to share subscriptions, manage group finances, send payments, and access wallet services — all within a single ecosystem.</a:t>
            </a:r>
            <a:endParaRPr b="0" i="0" sz="1350" u="none" cap="none" strike="noStrike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50"/>
              <a:buFont typeface="Source Sans 3"/>
              <a:buNone/>
            </a:pPr>
            <a:r>
              <a:t/>
            </a:r>
            <a:endParaRPr sz="1350">
              <a:solidFill>
                <a:srgbClr val="3A363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21000"/>
              </a:lnSpc>
              <a:spcBef>
                <a:spcPts val="650"/>
              </a:spcBef>
              <a:spcAft>
                <a:spcPts val="0"/>
              </a:spcAft>
              <a:buClr>
                <a:srgbClr val="3A3630"/>
              </a:buClr>
              <a:buSzPts val="950"/>
              <a:buFont typeface="Source Sans 3"/>
              <a:buNone/>
            </a:pPr>
            <a:r>
              <a:rPr b="0" i="0" lang="en-US" sz="1350" u="none" cap="none" strike="noStrike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 user: cost-conscious individuals seeking to reduce recurring expenses through trusted peer networks.</a:t>
            </a:r>
            <a:endParaRPr b="0" i="0" sz="1350" u="none" cap="none" strike="noStrike"/>
          </a:p>
        </p:txBody>
      </p:sp>
      <p:sp>
        <p:nvSpPr>
          <p:cNvPr id="74" name="Google Shape;74;p15"/>
          <p:cNvSpPr/>
          <p:nvPr/>
        </p:nvSpPr>
        <p:spPr>
          <a:xfrm>
            <a:off x="624855" y="4336182"/>
            <a:ext cx="1899493" cy="421779"/>
          </a:xfrm>
          <a:prstGeom prst="roundRect">
            <a:avLst>
              <a:gd fmla="val 4323" name="adj"/>
            </a:avLst>
          </a:prstGeom>
          <a:solidFill>
            <a:srgbClr val="F3E7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5" name="Google Shape;75;p15"/>
          <p:cNvSpPr/>
          <p:nvPr/>
        </p:nvSpPr>
        <p:spPr>
          <a:xfrm>
            <a:off x="746373" y="4457700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00"/>
              <a:buFont typeface="Lora"/>
              <a:buNone/>
            </a:pPr>
            <a:r>
              <a:rPr i="0" lang="en-US" sz="1100" u="none" cap="none" strike="noStrike">
                <a:solidFill>
                  <a:srgbClr val="3A363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Subscription Sharing</a:t>
            </a:r>
            <a:endParaRPr i="0" sz="1100" u="none" cap="none" strike="noStrike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2623096" y="4336182"/>
            <a:ext cx="1899493" cy="421779"/>
          </a:xfrm>
          <a:prstGeom prst="roundRect">
            <a:avLst>
              <a:gd fmla="val 4323" name="adj"/>
            </a:avLst>
          </a:prstGeom>
          <a:solidFill>
            <a:srgbClr val="F3E7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7" name="Google Shape;77;p15"/>
          <p:cNvSpPr/>
          <p:nvPr/>
        </p:nvSpPr>
        <p:spPr>
          <a:xfrm>
            <a:off x="2744614" y="4457700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00"/>
              <a:buFont typeface="Lora"/>
              <a:buNone/>
            </a:pPr>
            <a:r>
              <a:rPr i="0" lang="en-US" sz="1100" u="none" cap="none" strike="noStrike">
                <a:solidFill>
                  <a:srgbClr val="3A3630"/>
                </a:solidFill>
                <a:latin typeface="Comic Sans MS"/>
                <a:ea typeface="Comic Sans MS"/>
                <a:cs typeface="Comic Sans MS"/>
                <a:sym typeface="Comic Sans MS"/>
              </a:rPr>
              <a:t>Group Finance</a:t>
            </a:r>
            <a:endParaRPr i="0" sz="1100" u="none" cap="none" strike="noStrike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621337" y="4336182"/>
            <a:ext cx="1899493" cy="421779"/>
          </a:xfrm>
          <a:prstGeom prst="roundRect">
            <a:avLst>
              <a:gd fmla="val 4323" name="adj"/>
            </a:avLst>
          </a:prstGeom>
          <a:solidFill>
            <a:srgbClr val="F3E7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9" name="Google Shape;79;p15"/>
          <p:cNvSpPr/>
          <p:nvPr/>
        </p:nvSpPr>
        <p:spPr>
          <a:xfrm>
            <a:off x="4742855" y="4457700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00"/>
              <a:buFont typeface="Lora"/>
              <a:buNone/>
            </a:pPr>
            <a:r>
              <a:rPr i="0" lang="en-US" sz="1100" u="none" cap="none" strike="noStrike">
                <a:solidFill>
                  <a:srgbClr val="3A363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Bill Payments</a:t>
            </a:r>
            <a:endParaRPr i="0" sz="1100" u="none" cap="none" strike="noStrike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619577" y="4336182"/>
            <a:ext cx="1899568" cy="421779"/>
          </a:xfrm>
          <a:prstGeom prst="roundRect">
            <a:avLst>
              <a:gd fmla="val 4323" name="adj"/>
            </a:avLst>
          </a:prstGeom>
          <a:solidFill>
            <a:srgbClr val="F3E7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741096" y="4457700"/>
            <a:ext cx="1430089" cy="17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100"/>
              <a:buFont typeface="Lora"/>
              <a:buNone/>
            </a:pPr>
            <a:r>
              <a:rPr i="0" lang="en-US" sz="1100" u="none" cap="none" strike="noStrike">
                <a:solidFill>
                  <a:srgbClr val="3A3630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Wallet &amp; Rentals</a:t>
            </a:r>
            <a:endParaRPr i="0" sz="1100" u="none" cap="none" strike="noStrike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2555312" y="147609"/>
            <a:ext cx="31524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2100"/>
              <a:buFont typeface="Lora"/>
              <a:buNone/>
            </a:pPr>
            <a:r>
              <a:rPr b="1" i="0" lang="en-US" sz="2100" u="none" cap="none" strike="noStrik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SWOT Analysis</a:t>
            </a:r>
            <a:endParaRPr b="1" i="0" sz="2100" u="none" cap="none" strike="noStrike"/>
          </a:p>
        </p:txBody>
      </p:sp>
      <p:sp>
        <p:nvSpPr>
          <p:cNvPr id="88" name="Google Shape;88;p16"/>
          <p:cNvSpPr/>
          <p:nvPr/>
        </p:nvSpPr>
        <p:spPr>
          <a:xfrm>
            <a:off x="178500" y="544900"/>
            <a:ext cx="84318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9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Subspace operates in a high-demand space — subscription fatigue is real and growing. However, the breadth of features creates a positioning challenge: users may not immediately understand what the product is </a:t>
            </a:r>
            <a:r>
              <a:rPr b="0" i="1" lang="en-US" sz="1600" u="none" cap="none" strike="noStrike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for</a:t>
            </a:r>
            <a:r>
              <a:rPr b="0" i="0" lang="en-US" sz="1600" u="none" cap="none" strike="noStrike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, which suppresses activation and word-of-mouth growth.</a:t>
            </a:r>
            <a:endParaRPr b="0" i="0" sz="1600" u="none" cap="none" strike="noStrike"/>
          </a:p>
        </p:txBody>
      </p:sp>
      <p:pic>
        <p:nvPicPr>
          <p:cNvPr descr="preencoded.png"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8425" y="1472600"/>
            <a:ext cx="5448827" cy="352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114000" y="215851"/>
            <a:ext cx="8916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2400"/>
              <a:buFont typeface="Lora"/>
              <a:buAutoNum type="arabicPeriod"/>
            </a:pPr>
            <a:r>
              <a:rPr b="1" i="0" lang="en-US" sz="2400" u="none" cap="none" strike="noStrik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Product Positioning Is Too Broad — Core Value Is Unclear</a:t>
            </a:r>
            <a:endParaRPr b="1" i="0" sz="2400" u="none" cap="none" strike="noStrike"/>
          </a:p>
        </p:txBody>
      </p:sp>
      <p:sp>
        <p:nvSpPr>
          <p:cNvPr id="96" name="Google Shape;96;p17"/>
          <p:cNvSpPr/>
          <p:nvPr/>
        </p:nvSpPr>
        <p:spPr>
          <a:xfrm>
            <a:off x="3848938" y="1691146"/>
            <a:ext cx="1540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ora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97" name="Google Shape;97;p17"/>
          <p:cNvSpPr txBox="1"/>
          <p:nvPr/>
        </p:nvSpPr>
        <p:spPr>
          <a:xfrm>
            <a:off x="215400" y="864325"/>
            <a:ext cx="87132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Observed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Subspace presents subscription sharing, bill payments, wallet services, rentals, and group finance simultaneously, making it difficult for first-time users to identify the platform's primary purpose.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Problem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A broad value proposition increases user confusion during onboarding and weakens the product's positioning in the market.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Ship Instead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Lead with a focused message:    </a:t>
            </a:r>
            <a:r>
              <a:rPr b="1" lang="en-US" sz="1300">
                <a:solidFill>
                  <a:schemeClr val="dk1"/>
                </a:solidFill>
              </a:rPr>
              <a:t>"Save money by sharing subscriptions securely."  </a:t>
            </a:r>
            <a:r>
              <a:rPr lang="en-US" sz="1300">
                <a:solidFill>
                  <a:schemeClr val="dk1"/>
                </a:solidFill>
              </a:rPr>
              <a:t>Introduce secondary features only after users understand the core offering.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Impact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Improved user understanding, higher activation rates, and stronger product positioning.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 title="Screenshot 2026-05-31 1215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0" y="11745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2.   Friend Addition Flow Creates a Dead-End Experience 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15400" y="817375"/>
            <a:ext cx="87132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Observed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The Friends page displays </a:t>
            </a:r>
            <a:r>
              <a:rPr b="1" lang="en-US" sz="1300">
                <a:solidFill>
                  <a:schemeClr val="dk1"/>
                </a:solidFill>
              </a:rPr>
              <a:t>"No friends yet"</a:t>
            </a:r>
            <a:r>
              <a:rPr lang="en-US" sz="1300">
                <a:solidFill>
                  <a:schemeClr val="dk1"/>
                </a:solidFill>
              </a:rPr>
              <a:t> with limited guidance on how users can connect with others or build their network.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Problem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Subspace relies heavily on subscription sharing and group participation. Without an easy way to add friends, users may never experience the platform's core collaborative value.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Ship Instead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Introduce </a:t>
            </a:r>
            <a:r>
              <a:rPr b="1" lang="en-US" sz="1300">
                <a:solidFill>
                  <a:schemeClr val="dk1"/>
                </a:solidFill>
              </a:rPr>
              <a:t>contact syncing, invite links, QR-code invitations, and suggested friends</a:t>
            </a:r>
            <a:r>
              <a:rPr lang="en-US" sz="1300">
                <a:solidFill>
                  <a:schemeClr val="dk1"/>
                </a:solidFill>
              </a:rPr>
              <a:t> already using the platform.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Impact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Improved activation, stronger network effects, and increased subscription-sharing activity.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 title="Screenshot 2026-05-31 1217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0" y="117425"/>
            <a:ext cx="91440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3.  Insufficient Trust Signals Before Joining Subscription Groups 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161050" y="1110975"/>
            <a:ext cx="87132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Observed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Subscription groups display ratings and activity status, but lack deeper trust indicators before users make a financial commitment.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Problem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Users are expected to join groups managed by unfamiliar individuals. Limited trust information can create hesitation and reduce conversion rates.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Ship Instead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Display </a:t>
            </a:r>
            <a:r>
              <a:rPr b="1" lang="en-US" sz="1300">
                <a:solidFill>
                  <a:schemeClr val="dk1"/>
                </a:solidFill>
              </a:rPr>
              <a:t>verified identity badges, successful transaction counts, renewal rates, member-since dates, and active group statistics.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Impact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Higher group join conversion, improved marketplace trust, and reduced decision-making friction.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 title="Screenshot 2026-05-31 1220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0" y="328825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4.     Technical Placeholder Text Visible to Users 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161050" y="1110975"/>
            <a:ext cx="87132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Observed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The Quick Payments section displays internal placeholder text instead of a user-friendly message.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Problem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User-facing technical text creates the impression of incomplete testing and reduces confidence in the platform's quality.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Ship Instead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Implement </a:t>
            </a:r>
            <a:r>
              <a:rPr b="1" lang="en-US" sz="1300">
                <a:solidFill>
                  <a:schemeClr val="dk1"/>
                </a:solidFill>
              </a:rPr>
              <a:t>localization QA checks and automated UI validation</a:t>
            </a:r>
            <a:r>
              <a:rPr lang="en-US" sz="1300">
                <a:solidFill>
                  <a:schemeClr val="dk1"/>
                </a:solidFill>
              </a:rPr>
              <a:t> to ensure only production-ready content reaches users.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Impact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Improved product quality perception, stronger trust, and a more professional user experience.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 title="Screenshot 2026-05-31 1026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50" y="58725"/>
            <a:ext cx="90680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/>
        </p:nvSpPr>
        <p:spPr>
          <a:xfrm>
            <a:off x="0" y="246600"/>
            <a:ext cx="914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5.  Profile Setup Flow Lacks Clear Onboarding Guidance 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215400" y="958300"/>
            <a:ext cx="87132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Observed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After account creation, users are assigned default profile information and receive no guidance to complete their profile.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 Problem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Incomplete profiles reduce trust between users and limit engagement in social and financial interactions.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Ship Instead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Introduce a </a:t>
            </a:r>
            <a:r>
              <a:rPr b="1" lang="en-US" sz="1300">
                <a:solidFill>
                  <a:schemeClr val="dk1"/>
                </a:solidFill>
              </a:rPr>
              <a:t>guided onboarding flow with profile completion progress, contextual prompts, and profile completion rewards.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Impact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Improved user activation, stronger credibility signals, and higher engagement across the platform.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 title="Screenshot 2026-05-31 1224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50" y="415700"/>
            <a:ext cx="8839202" cy="46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/>
        </p:nvSpPr>
        <p:spPr>
          <a:xfrm>
            <a:off x="0" y="0"/>
            <a:ext cx="9144000" cy="4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Key Takeaways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1️⃣ Sharpen the Value Proposition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Lead with subscription sharing as the primary hook and introduce secondary features after activation.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2️⃣ Strengthen Marketplace Trust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Trust indicators such as verified identity, transaction history, and profile completeness are critical for financial decisions.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3️⃣ Improve Network Effects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friend addition flow should become a core onboarding step to encourage collaboration and platform growth.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4️⃣ Increase User Activation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Guided profile completion can improve credibility and encourage participation in groups and transactions.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5️⃣ Enhance Product Quality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Eliminating user-facing technical issues will strengthen trust and improve the overall user experience.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/>
        </p:nvSpPr>
        <p:spPr>
          <a:xfrm>
            <a:off x="3072000" y="3875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Final Thought</a:t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673200" y="1338725"/>
            <a:ext cx="7797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Subspace has a compelling subscription-sharing proposition with strong network-effect potential. Prioritizing clarity, trust, and activation can significantly improve user acquisition, conversion, and retention. 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